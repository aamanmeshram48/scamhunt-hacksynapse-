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HK Modular" panose="020B0604020202020204" charset="0"/>
      <p:regular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Bold" panose="02000000000000000000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hyperlink" Target="https://drive.google.com/file/d/1NipqLwKV7gS8-fY8UOMmvw3x-xOAbmM9/view?usp=drivesdk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21.jpe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rive.google.com/file/d/1NipqLwKV7gS8-fY8UOMmvw3x-xOAbmM9/view?usp=drivesdk" TargetMode="Externa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64" b="-86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9550" y="209550"/>
            <a:ext cx="1971675" cy="1933575"/>
          </a:xfrm>
          <a:custGeom>
            <a:avLst/>
            <a:gdLst/>
            <a:ahLst/>
            <a:cxnLst/>
            <a:rect l="l" t="t" r="r" b="b"/>
            <a:pathLst>
              <a:path w="1971675" h="19335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744239" y="1439764"/>
            <a:ext cx="1533525" cy="1714500"/>
          </a:xfrm>
          <a:custGeom>
            <a:avLst/>
            <a:gdLst/>
            <a:ahLst/>
            <a:cxnLst/>
            <a:rect l="l" t="t" r="r" b="b"/>
            <a:pathLst>
              <a:path w="1533525" h="1714500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476625" y="428625"/>
            <a:ext cx="2838450" cy="428625"/>
          </a:xfrm>
          <a:custGeom>
            <a:avLst/>
            <a:gdLst/>
            <a:ahLst/>
            <a:cxnLst/>
            <a:rect l="l" t="t" r="r" b="b"/>
            <a:pathLst>
              <a:path w="2838450" h="428625">
                <a:moveTo>
                  <a:pt x="0" y="0"/>
                </a:moveTo>
                <a:lnTo>
                  <a:pt x="2838450" y="0"/>
                </a:lnTo>
                <a:lnTo>
                  <a:pt x="28384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34775" y="638175"/>
            <a:ext cx="2838450" cy="438150"/>
          </a:xfrm>
          <a:custGeom>
            <a:avLst/>
            <a:gdLst/>
            <a:ahLst/>
            <a:cxnLst/>
            <a:rect l="l" t="t" r="r" b="b"/>
            <a:pathLst>
              <a:path w="2838450" h="438150">
                <a:moveTo>
                  <a:pt x="0" y="0"/>
                </a:moveTo>
                <a:lnTo>
                  <a:pt x="2838450" y="0"/>
                </a:lnTo>
                <a:lnTo>
                  <a:pt x="2838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69203" y="1712120"/>
            <a:ext cx="8194334" cy="995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4"/>
              </a:lnSpc>
            </a:pPr>
            <a:r>
              <a:rPr lang="en-US" sz="743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CYBER</a:t>
            </a:r>
            <a:r>
              <a:rPr lang="en-US" sz="7434">
                <a:solidFill>
                  <a:srgbClr val="3777FF"/>
                </a:solidFill>
                <a:latin typeface="HK Modular"/>
                <a:ea typeface="HK Modular"/>
                <a:cs typeface="HK Modular"/>
                <a:sym typeface="HK Modular"/>
              </a:rPr>
              <a:t>NOVA</a:t>
            </a:r>
          </a:p>
        </p:txBody>
      </p:sp>
      <p:sp>
        <p:nvSpPr>
          <p:cNvPr id="8" name="Freeform 8"/>
          <p:cNvSpPr/>
          <p:nvPr/>
        </p:nvSpPr>
        <p:spPr>
          <a:xfrm>
            <a:off x="1085850" y="2781300"/>
            <a:ext cx="7848600" cy="2790825"/>
          </a:xfrm>
          <a:custGeom>
            <a:avLst/>
            <a:gdLst/>
            <a:ahLst/>
            <a:cxnLst/>
            <a:rect l="l" t="t" r="r" b="b"/>
            <a:pathLst>
              <a:path w="7848600" h="2790825">
                <a:moveTo>
                  <a:pt x="0" y="0"/>
                </a:moveTo>
                <a:lnTo>
                  <a:pt x="7848600" y="0"/>
                </a:lnTo>
                <a:lnTo>
                  <a:pt x="784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4000" y="3209925"/>
            <a:ext cx="2181225" cy="1933575"/>
          </a:xfrm>
          <a:custGeom>
            <a:avLst/>
            <a:gdLst/>
            <a:ahLst/>
            <a:cxnLst/>
            <a:rect l="l" t="t" r="r" b="b"/>
            <a:pathLst>
              <a:path w="2181225" h="193357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914775" y="3429000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4000" y="2781300"/>
            <a:ext cx="7839075" cy="2790825"/>
          </a:xfrm>
          <a:custGeom>
            <a:avLst/>
            <a:gdLst/>
            <a:ahLst/>
            <a:cxnLst/>
            <a:rect l="l" t="t" r="r" b="b"/>
            <a:pathLst>
              <a:path w="7839075" h="2790825">
                <a:moveTo>
                  <a:pt x="0" y="0"/>
                </a:moveTo>
                <a:lnTo>
                  <a:pt x="7839075" y="0"/>
                </a:lnTo>
                <a:lnTo>
                  <a:pt x="7839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791700" y="3209925"/>
            <a:ext cx="1971675" cy="1933575"/>
          </a:xfrm>
          <a:custGeom>
            <a:avLst/>
            <a:gdLst/>
            <a:ahLst/>
            <a:cxnLst/>
            <a:rect l="l" t="t" r="r" b="b"/>
            <a:pathLst>
              <a:path w="1971675" h="19335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972925" y="3429000"/>
            <a:ext cx="219075" cy="1504950"/>
          </a:xfrm>
          <a:custGeom>
            <a:avLst/>
            <a:gdLst/>
            <a:ahLst/>
            <a:cxnLst/>
            <a:rect l="l" t="t" r="r" b="b"/>
            <a:pathLst>
              <a:path w="219075" h="1504950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85850" y="5572125"/>
            <a:ext cx="7848600" cy="2790825"/>
          </a:xfrm>
          <a:custGeom>
            <a:avLst/>
            <a:gdLst/>
            <a:ahLst/>
            <a:cxnLst/>
            <a:rect l="l" t="t" r="r" b="b"/>
            <a:pathLst>
              <a:path w="7848600" h="2790825">
                <a:moveTo>
                  <a:pt x="0" y="0"/>
                </a:moveTo>
                <a:lnTo>
                  <a:pt x="7848600" y="0"/>
                </a:lnTo>
                <a:lnTo>
                  <a:pt x="784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24000" y="6000750"/>
            <a:ext cx="2181225" cy="1933575"/>
          </a:xfrm>
          <a:custGeom>
            <a:avLst/>
            <a:gdLst/>
            <a:ahLst/>
            <a:cxnLst/>
            <a:rect l="l" t="t" r="r" b="b"/>
            <a:pathLst>
              <a:path w="2181225" h="1933575">
                <a:moveTo>
                  <a:pt x="0" y="0"/>
                </a:moveTo>
                <a:lnTo>
                  <a:pt x="2181225" y="0"/>
                </a:lnTo>
                <a:lnTo>
                  <a:pt x="218122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914775" y="6210300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144000" y="5572125"/>
            <a:ext cx="7839075" cy="2790825"/>
          </a:xfrm>
          <a:custGeom>
            <a:avLst/>
            <a:gdLst/>
            <a:ahLst/>
            <a:cxnLst/>
            <a:rect l="l" t="t" r="r" b="b"/>
            <a:pathLst>
              <a:path w="7839075" h="2790825">
                <a:moveTo>
                  <a:pt x="0" y="0"/>
                </a:moveTo>
                <a:lnTo>
                  <a:pt x="7839075" y="0"/>
                </a:lnTo>
                <a:lnTo>
                  <a:pt x="7839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791700" y="6000750"/>
            <a:ext cx="1971675" cy="1933575"/>
          </a:xfrm>
          <a:custGeom>
            <a:avLst/>
            <a:gdLst/>
            <a:ahLst/>
            <a:cxnLst/>
            <a:rect l="l" t="t" r="r" b="b"/>
            <a:pathLst>
              <a:path w="1971675" h="1933575">
                <a:moveTo>
                  <a:pt x="0" y="0"/>
                </a:moveTo>
                <a:lnTo>
                  <a:pt x="1971675" y="0"/>
                </a:lnTo>
                <a:lnTo>
                  <a:pt x="197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972925" y="6210300"/>
            <a:ext cx="219075" cy="1504950"/>
          </a:xfrm>
          <a:custGeom>
            <a:avLst/>
            <a:gdLst/>
            <a:ahLst/>
            <a:cxnLst/>
            <a:rect l="l" t="t" r="r" b="b"/>
            <a:pathLst>
              <a:path w="219075" h="1504950">
                <a:moveTo>
                  <a:pt x="0" y="0"/>
                </a:moveTo>
                <a:lnTo>
                  <a:pt x="219075" y="0"/>
                </a:lnTo>
                <a:lnTo>
                  <a:pt x="21907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733550" y="8572500"/>
            <a:ext cx="666750" cy="1285875"/>
          </a:xfrm>
          <a:custGeom>
            <a:avLst/>
            <a:gdLst/>
            <a:ahLst/>
            <a:cxnLst/>
            <a:rect l="l" t="t" r="r" b="b"/>
            <a:pathLst>
              <a:path w="666750" h="1285875">
                <a:moveTo>
                  <a:pt x="0" y="0"/>
                </a:moveTo>
                <a:lnTo>
                  <a:pt x="666750" y="0"/>
                </a:lnTo>
                <a:lnTo>
                  <a:pt x="666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276475" y="8535505"/>
            <a:ext cx="13944600" cy="1285875"/>
          </a:xfrm>
          <a:custGeom>
            <a:avLst/>
            <a:gdLst/>
            <a:ahLst/>
            <a:cxnLst/>
            <a:rect l="l" t="t" r="r" b="b"/>
            <a:pathLst>
              <a:path w="13944600" h="1285875">
                <a:moveTo>
                  <a:pt x="0" y="0"/>
                </a:moveTo>
                <a:lnTo>
                  <a:pt x="13944600" y="0"/>
                </a:lnTo>
                <a:lnTo>
                  <a:pt x="13944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5887700" y="8572500"/>
            <a:ext cx="666750" cy="1285875"/>
          </a:xfrm>
          <a:custGeom>
            <a:avLst/>
            <a:gdLst/>
            <a:ahLst/>
            <a:cxnLst/>
            <a:rect l="l" t="t" r="r" b="b"/>
            <a:pathLst>
              <a:path w="666750" h="1285875">
                <a:moveTo>
                  <a:pt x="0" y="0"/>
                </a:moveTo>
                <a:lnTo>
                  <a:pt x="666750" y="0"/>
                </a:lnTo>
                <a:lnTo>
                  <a:pt x="6667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334256" y="4012023"/>
            <a:ext cx="3218688" cy="529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396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DIVYA KHARE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35840" y="4063510"/>
            <a:ext cx="4078224" cy="48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4038" b="1" spc="-2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AMAN  MESHRAM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34256" y="6805913"/>
            <a:ext cx="4261104" cy="51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86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RADHIKA PARMAR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35840" y="6800250"/>
            <a:ext cx="3054096" cy="52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2"/>
              </a:lnSpc>
            </a:pPr>
            <a:r>
              <a:rPr lang="en-US" sz="393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AMAN SEMIL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33472" y="9029700"/>
            <a:ext cx="13021056" cy="326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7"/>
              </a:lnSpc>
            </a:pPr>
            <a:r>
              <a:rPr lang="en-US" sz="233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Combining AI, technology, creativity and problem solving to build practical cybersecurity solutions.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38892" y="4452575"/>
            <a:ext cx="3457891" cy="5206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52"/>
              </a:lnSpc>
              <a:spcBef>
                <a:spcPct val="0"/>
              </a:spcBef>
            </a:pPr>
            <a:r>
              <a:rPr lang="en-US" sz="2834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(Team Leader)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20737" y="8249201"/>
            <a:ext cx="3874336" cy="473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2"/>
              </a:lnSpc>
              <a:spcBef>
                <a:spcPct val="0"/>
              </a:spcBef>
            </a:pPr>
            <a:r>
              <a:rPr lang="en-US" sz="2561" u="sng">
                <a:solidFill>
                  <a:srgbClr val="FF3131"/>
                </a:solidFill>
                <a:latin typeface="Roboto"/>
                <a:ea typeface="Roboto"/>
                <a:cs typeface="Roboto"/>
                <a:sym typeface="Roboto"/>
                <a:hlinkClick r:id="rId22" tooltip="https://drive.google.com/file/d/1NipqLwKV7gS8-fY8UOMmvw3x-xOAbmM9/view?usp=drivesdk"/>
              </a:rPr>
              <a:t>click here to view the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71404" y="61135"/>
            <a:ext cx="7780020" cy="7115477"/>
          </a:xfrm>
          <a:custGeom>
            <a:avLst/>
            <a:gdLst/>
            <a:ahLst/>
            <a:cxnLst/>
            <a:rect l="l" t="t" r="r" b="b"/>
            <a:pathLst>
              <a:path w="7780020" h="7115477">
                <a:moveTo>
                  <a:pt x="0" y="0"/>
                </a:moveTo>
                <a:lnTo>
                  <a:pt x="7780020" y="0"/>
                </a:lnTo>
                <a:lnTo>
                  <a:pt x="7780020" y="7115477"/>
                </a:lnTo>
                <a:lnTo>
                  <a:pt x="0" y="7115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95700" y="857250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048625" y="857250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401550" y="8572500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00200" y="453484"/>
            <a:ext cx="4937760" cy="10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b="1" spc="-1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SCAM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00200" y="1561785"/>
            <a:ext cx="6675120" cy="1914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7"/>
              </a:lnSpc>
            </a:pPr>
            <a:r>
              <a:rPr lang="en-US" sz="8008" b="1" spc="-160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ISN’T ALWAYS OBVIOUS</a:t>
            </a:r>
            <a:r>
              <a:rPr lang="en-US" sz="8008" b="1" spc="-1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1752" y="4162448"/>
            <a:ext cx="5724144" cy="862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9"/>
              </a:lnSpc>
            </a:pPr>
            <a:r>
              <a:rPr lang="en-US" sz="24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Digital scams are getting harder to spot. They show up in more ways than ever: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1752" y="5733100"/>
            <a:ext cx="3956689" cy="688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1"/>
              </a:lnSpc>
            </a:pPr>
            <a:r>
              <a:rPr lang="en-US" sz="194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Fake messages designed to steal credentials or personal information.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1752" y="6616792"/>
            <a:ext cx="1546523" cy="41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410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Job Scams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1752" y="7076189"/>
            <a:ext cx="3896435" cy="668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6"/>
              </a:lnSpc>
            </a:pPr>
            <a:r>
              <a:rPr lang="en-US" sz="19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Fake job offers demanding registration fees or personal details.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82978" y="4618615"/>
            <a:ext cx="3666492" cy="70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0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Fake refunds, payment requests and fraudulent transactions.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82978" y="5514467"/>
            <a:ext cx="3890555" cy="428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445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Malicious Links &amp; QR Codes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82978" y="5970634"/>
            <a:ext cx="3340581" cy="70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0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Deceptive links that redirect users to unsafe destinations.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82978" y="7288279"/>
            <a:ext cx="3931294" cy="70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5"/>
              </a:lnSpc>
            </a:pPr>
            <a:r>
              <a:rPr lang="en-US" sz="201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Attackers pretending to be banks, companies, friends or authorities.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98480" y="4788035"/>
            <a:ext cx="3421552" cy="45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2630">
                <a:solidFill>
                  <a:srgbClr val="006EFF"/>
                </a:solidFill>
                <a:latin typeface="Roboto"/>
                <a:ea typeface="Roboto"/>
                <a:cs typeface="Roboto"/>
                <a:sym typeface="Roboto"/>
              </a:rPr>
              <a:t>THE REAL 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98480" y="5262371"/>
            <a:ext cx="4828032" cy="2384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8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Users don’t just need to know </a:t>
            </a:r>
            <a:r>
              <a:rPr lang="en-US" sz="2833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-US" sz="28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something is a scam. They need to know </a:t>
            </a:r>
            <a:r>
              <a:rPr lang="en-US" sz="2833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WHY</a:t>
            </a:r>
            <a:r>
              <a:rPr lang="en-US" sz="28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it is dangerous and </a:t>
            </a:r>
            <a:r>
              <a:rPr lang="en-US" sz="2833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WHAT</a:t>
            </a:r>
            <a:r>
              <a:rPr lang="en-US" sz="28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they should do next.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4944" y="8403717"/>
            <a:ext cx="2523744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223" b="1" spc="-64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SUSPICIOUS </a:t>
            </a:r>
            <a:r>
              <a:rPr lang="en-US" sz="3223" b="1" spc="-6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CONTENT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37760" y="8601456"/>
            <a:ext cx="241401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3435" b="1" spc="-68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CONFUSION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09760" y="8601456"/>
            <a:ext cx="237744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3435" b="1" spc="-68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CLICK / PAY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79424" y="8403717"/>
            <a:ext cx="2633472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223" b="1" spc="-64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DATA OR </a:t>
            </a:r>
            <a:r>
              <a:rPr lang="en-US" sz="3223" b="1" spc="-6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MONEY LOSS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5344" y="9456746"/>
            <a:ext cx="9436608" cy="41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514">
                <a:solidFill>
                  <a:srgbClr val="006EFF"/>
                </a:solidFill>
                <a:latin typeface="Roboto"/>
                <a:ea typeface="Roboto"/>
                <a:cs typeface="Roboto"/>
                <a:sym typeface="Roboto"/>
              </a:rPr>
              <a:t>SCAMHUNT </a:t>
            </a:r>
            <a:r>
              <a:rPr lang="en-US" sz="251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aims to break this chain before the damage happens.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752" y="5283669"/>
            <a:ext cx="2691352" cy="414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410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Phishing Messages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82978" y="4162448"/>
            <a:ext cx="2261003" cy="428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445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Payment Scams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082978" y="6846359"/>
            <a:ext cx="2057309" cy="41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2484">
                <a:solidFill>
                  <a:srgbClr val="FF5757"/>
                </a:solidFill>
                <a:latin typeface="Roboto"/>
                <a:ea typeface="Roboto"/>
                <a:cs typeface="Roboto"/>
                <a:sym typeface="Roboto"/>
              </a:rPr>
              <a:t>Impersonation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572500"/>
            <a:ext cx="7839075" cy="1714500"/>
          </a:xfrm>
          <a:custGeom>
            <a:avLst/>
            <a:gdLst/>
            <a:ahLst/>
            <a:cxnLst/>
            <a:rect l="l" t="t" r="r" b="b"/>
            <a:pathLst>
              <a:path w="7839075" h="1714500">
                <a:moveTo>
                  <a:pt x="0" y="0"/>
                </a:moveTo>
                <a:lnTo>
                  <a:pt x="7839075" y="0"/>
                </a:lnTo>
                <a:lnTo>
                  <a:pt x="783907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1010" y="5816868"/>
            <a:ext cx="6762750" cy="428625"/>
          </a:xfrm>
          <a:custGeom>
            <a:avLst/>
            <a:gdLst/>
            <a:ahLst/>
            <a:cxnLst/>
            <a:rect l="l" t="t" r="r" b="b"/>
            <a:pathLst>
              <a:path w="6762750" h="428625">
                <a:moveTo>
                  <a:pt x="0" y="0"/>
                </a:moveTo>
                <a:lnTo>
                  <a:pt x="6762750" y="0"/>
                </a:lnTo>
                <a:lnTo>
                  <a:pt x="67627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829550" y="1285875"/>
            <a:ext cx="5238750" cy="1504950"/>
          </a:xfrm>
          <a:custGeom>
            <a:avLst/>
            <a:gdLst/>
            <a:ahLst/>
            <a:cxnLst/>
            <a:rect l="l" t="t" r="r" b="b"/>
            <a:pathLst>
              <a:path w="5238750" h="1504950">
                <a:moveTo>
                  <a:pt x="0" y="0"/>
                </a:moveTo>
                <a:lnTo>
                  <a:pt x="5238750" y="0"/>
                </a:lnTo>
                <a:lnTo>
                  <a:pt x="5238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010775" y="2571750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829550" y="3209925"/>
            <a:ext cx="5238750" cy="1933575"/>
          </a:xfrm>
          <a:custGeom>
            <a:avLst/>
            <a:gdLst/>
            <a:ahLst/>
            <a:cxnLst/>
            <a:rect l="l" t="t" r="r" b="b"/>
            <a:pathLst>
              <a:path w="5238750" h="1933575">
                <a:moveTo>
                  <a:pt x="0" y="0"/>
                </a:moveTo>
                <a:lnTo>
                  <a:pt x="5238750" y="0"/>
                </a:lnTo>
                <a:lnTo>
                  <a:pt x="523875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010775" y="492442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829550" y="5353050"/>
            <a:ext cx="5238750" cy="2152650"/>
          </a:xfrm>
          <a:custGeom>
            <a:avLst/>
            <a:gdLst/>
            <a:ahLst/>
            <a:cxnLst/>
            <a:rect l="l" t="t" r="r" b="b"/>
            <a:pathLst>
              <a:path w="5238750" h="2152650">
                <a:moveTo>
                  <a:pt x="0" y="0"/>
                </a:moveTo>
                <a:lnTo>
                  <a:pt x="5238750" y="0"/>
                </a:lnTo>
                <a:lnTo>
                  <a:pt x="523875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010775" y="728662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829550" y="7715250"/>
            <a:ext cx="5238750" cy="2143125"/>
          </a:xfrm>
          <a:custGeom>
            <a:avLst/>
            <a:gdLst/>
            <a:ahLst/>
            <a:cxnLst/>
            <a:rect l="l" t="t" r="r" b="b"/>
            <a:pathLst>
              <a:path w="5238750" h="2143125">
                <a:moveTo>
                  <a:pt x="0" y="0"/>
                </a:moveTo>
                <a:lnTo>
                  <a:pt x="5238750" y="0"/>
                </a:lnTo>
                <a:lnTo>
                  <a:pt x="52387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277850" y="1285875"/>
            <a:ext cx="4800600" cy="8572500"/>
          </a:xfrm>
          <a:custGeom>
            <a:avLst/>
            <a:gdLst/>
            <a:ahLst/>
            <a:cxnLst/>
            <a:rect l="l" t="t" r="r" b="b"/>
            <a:pathLst>
              <a:path w="4800600" h="8572500">
                <a:moveTo>
                  <a:pt x="0" y="0"/>
                </a:moveTo>
                <a:lnTo>
                  <a:pt x="4800600" y="0"/>
                </a:lnTo>
                <a:lnTo>
                  <a:pt x="480060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716000" y="3209925"/>
            <a:ext cx="3924300" cy="219075"/>
          </a:xfrm>
          <a:custGeom>
            <a:avLst/>
            <a:gdLst/>
            <a:ahLst/>
            <a:cxnLst/>
            <a:rect l="l" t="t" r="r" b="b"/>
            <a:pathLst>
              <a:path w="3924300" h="219075">
                <a:moveTo>
                  <a:pt x="0" y="0"/>
                </a:moveTo>
                <a:lnTo>
                  <a:pt x="3924300" y="0"/>
                </a:lnTo>
                <a:lnTo>
                  <a:pt x="392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716000" y="4924425"/>
            <a:ext cx="3924300" cy="219075"/>
          </a:xfrm>
          <a:custGeom>
            <a:avLst/>
            <a:gdLst/>
            <a:ahLst/>
            <a:cxnLst/>
            <a:rect l="l" t="t" r="r" b="b"/>
            <a:pathLst>
              <a:path w="3924300" h="219075">
                <a:moveTo>
                  <a:pt x="0" y="0"/>
                </a:moveTo>
                <a:lnTo>
                  <a:pt x="3924300" y="0"/>
                </a:lnTo>
                <a:lnTo>
                  <a:pt x="392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716000" y="7496175"/>
            <a:ext cx="3924300" cy="219075"/>
          </a:xfrm>
          <a:custGeom>
            <a:avLst/>
            <a:gdLst/>
            <a:ahLst/>
            <a:cxnLst/>
            <a:rect l="l" t="t" r="r" b="b"/>
            <a:pathLst>
              <a:path w="3924300" h="219075">
                <a:moveTo>
                  <a:pt x="0" y="0"/>
                </a:moveTo>
                <a:lnTo>
                  <a:pt x="3924300" y="0"/>
                </a:lnTo>
                <a:lnTo>
                  <a:pt x="3924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642072" y="422147"/>
            <a:ext cx="2949758" cy="119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22"/>
              </a:lnSpc>
            </a:pPr>
            <a:r>
              <a:rPr lang="en-US" sz="882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MEET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3040" y="1545459"/>
            <a:ext cx="6895338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54"/>
              </a:lnSpc>
            </a:pPr>
            <a:r>
              <a:rPr lang="en-US" sz="8954" b="1" dirty="0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SCAMHUNT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2064" y="3262312"/>
            <a:ext cx="6089904" cy="2554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7"/>
              </a:lnSpc>
            </a:pPr>
            <a:r>
              <a:rPr lang="en-US" sz="292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 AI powered digital fraud investigator that helps users understand suspicious content before they click, pay, or share sensitive information.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2064" y="6197118"/>
            <a:ext cx="1243584" cy="4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7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OUR USP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28432" y="705141"/>
            <a:ext cx="2176272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HOW IT WORKS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74736" y="1446008"/>
            <a:ext cx="274320" cy="829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5"/>
              </a:lnSpc>
            </a:pPr>
            <a:r>
              <a:rPr lang="en-US" sz="4853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96528" y="1584386"/>
            <a:ext cx="1024128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SUBMIT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796528" y="2127571"/>
            <a:ext cx="4005072" cy="31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Message • URL • Screenshot • QR Code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38160" y="3297668"/>
            <a:ext cx="365760" cy="829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5"/>
              </a:lnSpc>
            </a:pPr>
            <a:r>
              <a:rPr lang="en-US" sz="4853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96528" y="3467357"/>
            <a:ext cx="1755648" cy="37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19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INVESTIGATE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96528" y="3947798"/>
            <a:ext cx="4005072" cy="94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ScamHunt analyzes suspicious signals, language, links, domains and available threat intelligence.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38160" y="5663678"/>
            <a:ext cx="365760" cy="829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5"/>
              </a:lnSpc>
            </a:pPr>
            <a:r>
              <a:rPr lang="en-US" sz="4853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96528" y="5812343"/>
            <a:ext cx="1115568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EXPLAIN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96528" y="6324095"/>
            <a:ext cx="3456432" cy="944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Identifies the potential scam type and shows the evidence behind the risk.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38160" y="7967966"/>
            <a:ext cx="365760" cy="829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95"/>
              </a:lnSpc>
            </a:pPr>
            <a:r>
              <a:rPr lang="en-US" sz="4853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96528" y="8164965"/>
            <a:ext cx="548640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96528" y="8764972"/>
            <a:ext cx="3456432" cy="630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Provides a clear recommendation on what the user should do next.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79424" y="717177"/>
            <a:ext cx="1627632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2"/>
              </a:lnSpc>
            </a:pPr>
            <a:r>
              <a:rPr lang="en-US" sz="2230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THE RESULT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807440" y="1575848"/>
            <a:ext cx="1408176" cy="34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 SCORE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07440" y="1927472"/>
            <a:ext cx="2139696" cy="771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 b="1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94 / 100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807440" y="3675608"/>
            <a:ext cx="1408176" cy="358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5"/>
              </a:lnSpc>
            </a:pPr>
            <a:r>
              <a:rPr lang="en-US" sz="201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SCAM TYPE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807440" y="4071810"/>
            <a:ext cx="1883664" cy="647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6"/>
              </a:lnSpc>
            </a:pPr>
            <a:r>
              <a:rPr lang="en-US" sz="3754" b="1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Phishing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807440" y="5318654"/>
            <a:ext cx="1133856" cy="33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EVIDENCE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07440" y="5811287"/>
            <a:ext cx="2084832" cy="133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Suspicious domain Impersonation Urgency Credential request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807440" y="7820057"/>
            <a:ext cx="2889504" cy="349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RECOMMENDED ACTION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807440" y="8283427"/>
            <a:ext cx="2926080" cy="119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2833" b="1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Don’t click. Verify through the official channel.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6537" y="7362825"/>
            <a:ext cx="6711696" cy="1224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2"/>
              </a:lnSpc>
            </a:pPr>
            <a:r>
              <a:rPr lang="en-US" sz="471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 DON’T JUST DETECT. </a:t>
            </a:r>
            <a:r>
              <a:rPr lang="en-US" sz="4712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WE INVESTIGATE.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807440" y="2690532"/>
            <a:ext cx="1517904" cy="41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 b="1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HIGH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390775" y="406717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55264" y="5128308"/>
            <a:ext cx="2523744" cy="1105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198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Extract text, links, domains and other relevant signals.</a:t>
            </a:r>
          </a:p>
        </p:txBody>
      </p:sp>
      <p:sp>
        <p:nvSpPr>
          <p:cNvPr id="5" name="Freeform 5"/>
          <p:cNvSpPr/>
          <p:nvPr/>
        </p:nvSpPr>
        <p:spPr>
          <a:xfrm>
            <a:off x="4781550" y="406717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00925" y="40671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010775" y="40671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620625" y="4067175"/>
            <a:ext cx="885825" cy="647700"/>
          </a:xfrm>
          <a:custGeom>
            <a:avLst/>
            <a:gdLst/>
            <a:ahLst/>
            <a:cxnLst/>
            <a:rect l="l" t="t" r="r" b="b"/>
            <a:pathLst>
              <a:path w="885825" h="647700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020925" y="4067175"/>
            <a:ext cx="876300" cy="647700"/>
          </a:xfrm>
          <a:custGeom>
            <a:avLst/>
            <a:gdLst/>
            <a:ahLst/>
            <a:cxnLst/>
            <a:rect l="l" t="t" r="r" b="b"/>
            <a:pathLst>
              <a:path w="876300" h="647700">
                <a:moveTo>
                  <a:pt x="0" y="0"/>
                </a:moveTo>
                <a:lnTo>
                  <a:pt x="876300" y="0"/>
                </a:lnTo>
                <a:lnTo>
                  <a:pt x="876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828925" y="4495800"/>
            <a:ext cx="219075" cy="2790825"/>
          </a:xfrm>
          <a:custGeom>
            <a:avLst/>
            <a:gdLst/>
            <a:ahLst/>
            <a:cxnLst/>
            <a:rect l="l" t="t" r="r" b="b"/>
            <a:pathLst>
              <a:path w="219075" h="2790825">
                <a:moveTo>
                  <a:pt x="0" y="0"/>
                </a:moveTo>
                <a:lnTo>
                  <a:pt x="219075" y="0"/>
                </a:lnTo>
                <a:lnTo>
                  <a:pt x="219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438775" y="4495800"/>
            <a:ext cx="228600" cy="2790825"/>
          </a:xfrm>
          <a:custGeom>
            <a:avLst/>
            <a:gdLst/>
            <a:ahLst/>
            <a:cxnLst/>
            <a:rect l="l" t="t" r="r" b="b"/>
            <a:pathLst>
              <a:path w="228600" h="2790825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829550" y="4495800"/>
            <a:ext cx="228600" cy="2790825"/>
          </a:xfrm>
          <a:custGeom>
            <a:avLst/>
            <a:gdLst/>
            <a:ahLst/>
            <a:cxnLst/>
            <a:rect l="l" t="t" r="r" b="b"/>
            <a:pathLst>
              <a:path w="228600" h="2790825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448925" y="4495800"/>
            <a:ext cx="219075" cy="2790825"/>
          </a:xfrm>
          <a:custGeom>
            <a:avLst/>
            <a:gdLst/>
            <a:ahLst/>
            <a:cxnLst/>
            <a:rect l="l" t="t" r="r" b="b"/>
            <a:pathLst>
              <a:path w="219075" h="2790825">
                <a:moveTo>
                  <a:pt x="0" y="0"/>
                </a:moveTo>
                <a:lnTo>
                  <a:pt x="219075" y="0"/>
                </a:lnTo>
                <a:lnTo>
                  <a:pt x="2190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058775" y="4495800"/>
            <a:ext cx="228600" cy="2790825"/>
          </a:xfrm>
          <a:custGeom>
            <a:avLst/>
            <a:gdLst/>
            <a:ahLst/>
            <a:cxnLst/>
            <a:rect l="l" t="t" r="r" b="b"/>
            <a:pathLst>
              <a:path w="228600" h="2790825">
                <a:moveTo>
                  <a:pt x="0" y="0"/>
                </a:moveTo>
                <a:lnTo>
                  <a:pt x="228600" y="0"/>
                </a:lnTo>
                <a:lnTo>
                  <a:pt x="22860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449550" y="4495800"/>
            <a:ext cx="447675" cy="2790825"/>
          </a:xfrm>
          <a:custGeom>
            <a:avLst/>
            <a:gdLst/>
            <a:ahLst/>
            <a:cxnLst/>
            <a:rect l="l" t="t" r="r" b="b"/>
            <a:pathLst>
              <a:path w="447675" h="2790825">
                <a:moveTo>
                  <a:pt x="0" y="0"/>
                </a:moveTo>
                <a:lnTo>
                  <a:pt x="447675" y="0"/>
                </a:lnTo>
                <a:lnTo>
                  <a:pt x="4476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28625" y="7496175"/>
            <a:ext cx="17430750" cy="1504950"/>
          </a:xfrm>
          <a:custGeom>
            <a:avLst/>
            <a:gdLst/>
            <a:ahLst/>
            <a:cxnLst/>
            <a:rect l="l" t="t" r="r" b="b"/>
            <a:pathLst>
              <a:path w="17430750" h="1504950">
                <a:moveTo>
                  <a:pt x="0" y="0"/>
                </a:moveTo>
                <a:lnTo>
                  <a:pt x="17430750" y="0"/>
                </a:lnTo>
                <a:lnTo>
                  <a:pt x="174307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4781550" y="7924800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181850" y="792480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229850" y="792480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2401550" y="7924800"/>
            <a:ext cx="666750" cy="438150"/>
          </a:xfrm>
          <a:custGeom>
            <a:avLst/>
            <a:gdLst/>
            <a:ahLst/>
            <a:cxnLst/>
            <a:rect l="l" t="t" r="r" b="b"/>
            <a:pathLst>
              <a:path w="666750" h="438150">
                <a:moveTo>
                  <a:pt x="0" y="0"/>
                </a:moveTo>
                <a:lnTo>
                  <a:pt x="666750" y="0"/>
                </a:lnTo>
                <a:lnTo>
                  <a:pt x="6667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801850" y="792480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719072" y="301180"/>
            <a:ext cx="559612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7"/>
              </a:lnSpc>
            </a:pPr>
            <a:r>
              <a:rPr lang="en-US" sz="503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HOW SCAMHUNT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82496" y="1129855"/>
            <a:ext cx="10094976" cy="167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83"/>
              </a:lnSpc>
            </a:pPr>
            <a:r>
              <a:rPr lang="en-US" sz="10986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INVESTIGATES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808" y="3301556"/>
            <a:ext cx="292608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8" b="1" dirty="0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9808" y="4271391"/>
            <a:ext cx="149961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 INPUT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9808" y="5176366"/>
            <a:ext cx="1170432" cy="1369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Message</a:t>
            </a:r>
          </a:p>
          <a:p>
            <a:pPr algn="l">
              <a:lnSpc>
                <a:spcPts val="270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</a:p>
          <a:p>
            <a:pPr algn="l">
              <a:lnSpc>
                <a:spcPts val="270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Screenshot</a:t>
            </a:r>
          </a:p>
          <a:p>
            <a:pPr algn="l">
              <a:lnSpc>
                <a:spcPts val="270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QR Code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273552" y="3301556"/>
            <a:ext cx="42062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8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70448" y="3301556"/>
            <a:ext cx="42062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8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52160" y="5240738"/>
            <a:ext cx="1755648" cy="161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73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Analyze language patterns, URLs, domains and suspicious indicators.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5904" y="3301556"/>
            <a:ext cx="438912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8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75904" y="5167794"/>
            <a:ext cx="1664208" cy="1026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180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Check available reputation and security signals.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09376" y="3301556"/>
            <a:ext cx="42062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8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91088" y="5186567"/>
            <a:ext cx="1975104" cy="1358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8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combines the collected evidence and identifies the likely scan pattern.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61136" y="3301556"/>
            <a:ext cx="42062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8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24560" y="5251718"/>
            <a:ext cx="1609344" cy="1701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1"/>
              </a:lnSpc>
            </a:pPr>
            <a:r>
              <a:rPr lang="en-US" sz="18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Generate a Risk Score and Scam Category based on the evidence.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038576" y="3301556"/>
            <a:ext cx="40233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8"/>
              </a:lnSpc>
            </a:pPr>
            <a:r>
              <a:rPr lang="en-US" sz="5598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075152" y="5220649"/>
            <a:ext cx="1517904" cy="198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Risk Score</a:t>
            </a:r>
          </a:p>
          <a:p>
            <a:pPr algn="l">
              <a:lnSpc>
                <a:spcPts val="2654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Scam Type</a:t>
            </a:r>
          </a:p>
          <a:p>
            <a:pPr algn="l">
              <a:lnSpc>
                <a:spcPts val="2654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Evidence</a:t>
            </a:r>
          </a:p>
          <a:p>
            <a:pPr algn="l">
              <a:lnSpc>
                <a:spcPts val="2654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Explanation</a:t>
            </a:r>
          </a:p>
          <a:p>
            <a:pPr algn="l">
              <a:lnSpc>
                <a:spcPts val="2654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Recommended</a:t>
            </a:r>
          </a:p>
          <a:p>
            <a:pPr algn="l">
              <a:lnSpc>
                <a:spcPts val="2654"/>
              </a:lnSpc>
            </a:pPr>
            <a:r>
              <a:rPr lang="en-US" sz="17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9264" y="8024431"/>
            <a:ext cx="177393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006EFF"/>
                </a:solidFill>
                <a:latin typeface="Roboto Bold"/>
                <a:ea typeface="Roboto Bold"/>
                <a:cs typeface="Roboto Bold"/>
                <a:sym typeface="Roboto Bold"/>
              </a:rPr>
              <a:t>CORE FLOW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41264" y="8024431"/>
            <a:ext cx="155448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ANALYZE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028432" y="8024431"/>
            <a:ext cx="213969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INVESTIGATE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064240" y="8024431"/>
            <a:ext cx="113385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SCORE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617952" y="8024431"/>
            <a:ext cx="153619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FF5757"/>
                </a:solidFill>
                <a:latin typeface="Roboto Bold"/>
                <a:ea typeface="Roboto Bold"/>
                <a:cs typeface="Roboto Bold"/>
                <a:sym typeface="Roboto Bold"/>
              </a:rPr>
              <a:t>PROTECT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39312" y="8024431"/>
            <a:ext cx="98755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INPUT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03936" y="8024431"/>
            <a:ext cx="142646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EXPLAIN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255264" y="4271391"/>
            <a:ext cx="82296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INPUT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52160" y="4271391"/>
            <a:ext cx="13898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EVIDENCE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75904" y="4271391"/>
            <a:ext cx="987552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THREAT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991088" y="4271391"/>
            <a:ext cx="29260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624560" y="4271391"/>
            <a:ext cx="64008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RISK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6075152" y="4271391"/>
            <a:ext cx="18470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INVESTIGATION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255264" y="4672584"/>
            <a:ext cx="168249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PROCESSING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852160" y="4672584"/>
            <a:ext cx="129844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ANALYSIS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75904" y="4672584"/>
            <a:ext cx="184708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INTELLIGENCE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991088" y="4672584"/>
            <a:ext cx="1920240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INVESTIGATION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624560" y="4672584"/>
            <a:ext cx="95097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982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ENGINE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075152" y="4672584"/>
            <a:ext cx="950976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6"/>
              </a:lnSpc>
            </a:pPr>
            <a:r>
              <a:rPr lang="en-US" sz="1947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104887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668000" y="209550"/>
            <a:ext cx="7268438" cy="9648825"/>
          </a:xfrm>
          <a:custGeom>
            <a:avLst/>
            <a:gdLst/>
            <a:ahLst/>
            <a:cxnLst/>
            <a:rect l="l" t="t" r="r" b="b"/>
            <a:pathLst>
              <a:path w="6315075" h="9648825">
                <a:moveTo>
                  <a:pt x="0" y="0"/>
                </a:moveTo>
                <a:lnTo>
                  <a:pt x="6315075" y="0"/>
                </a:lnTo>
                <a:lnTo>
                  <a:pt x="6315075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92000" y="1066800"/>
            <a:ext cx="4264589" cy="2581275"/>
          </a:xfrm>
          <a:custGeom>
            <a:avLst/>
            <a:gdLst/>
            <a:ahLst/>
            <a:cxnLst/>
            <a:rect l="l" t="t" r="r" b="b"/>
            <a:pathLst>
              <a:path w="3705225" h="2581275">
                <a:moveTo>
                  <a:pt x="0" y="0"/>
                </a:moveTo>
                <a:lnTo>
                  <a:pt x="3705225" y="0"/>
                </a:lnTo>
                <a:lnTo>
                  <a:pt x="3705225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668000" y="3429000"/>
            <a:ext cx="3760293" cy="1933575"/>
          </a:xfrm>
          <a:custGeom>
            <a:avLst/>
            <a:gdLst/>
            <a:ahLst/>
            <a:cxnLst/>
            <a:rect l="l" t="t" r="r" b="b"/>
            <a:pathLst>
              <a:path w="3267075" h="1933575">
                <a:moveTo>
                  <a:pt x="0" y="0"/>
                </a:moveTo>
                <a:lnTo>
                  <a:pt x="3267075" y="0"/>
                </a:lnTo>
                <a:lnTo>
                  <a:pt x="3267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34775" y="5353050"/>
            <a:ext cx="4023404" cy="1724025"/>
          </a:xfrm>
          <a:custGeom>
            <a:avLst/>
            <a:gdLst/>
            <a:ahLst/>
            <a:cxnLst/>
            <a:rect l="l" t="t" r="r" b="b"/>
            <a:pathLst>
              <a:path w="3495675" h="1724025">
                <a:moveTo>
                  <a:pt x="0" y="0"/>
                </a:moveTo>
                <a:lnTo>
                  <a:pt x="3495675" y="0"/>
                </a:lnTo>
                <a:lnTo>
                  <a:pt x="3495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96625" y="6858000"/>
            <a:ext cx="4023404" cy="2143125"/>
          </a:xfrm>
          <a:custGeom>
            <a:avLst/>
            <a:gdLst/>
            <a:ahLst/>
            <a:cxnLst/>
            <a:rect l="l" t="t" r="r" b="b"/>
            <a:pathLst>
              <a:path w="3495675" h="2143125">
                <a:moveTo>
                  <a:pt x="0" y="0"/>
                </a:moveTo>
                <a:lnTo>
                  <a:pt x="3495675" y="0"/>
                </a:lnTo>
                <a:lnTo>
                  <a:pt x="349567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2684542"/>
            <a:ext cx="6822891" cy="70244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TECHNOLOGIES USED                          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📱 Android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Android application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Standalone mobile experience </a:t>
            </a:r>
          </a:p>
          <a:p>
            <a:pPr lvl="0"/>
            <a:r>
              <a:rPr lang="en-US" sz="28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AndroidX</a:t>
            </a:r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components </a:t>
            </a:r>
          </a:p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🌐 HTML • CSS • JavaScript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Mobile UI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Responsive screens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Application logic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Interactive features </a:t>
            </a:r>
          </a:p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🧠 Rule-Based Threat Analysis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Suspicious pattern detection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Risk scoring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Threat </a:t>
            </a:r>
            <a:r>
              <a:rPr lang="en-US" sz="28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categorisation</a:t>
            </a:r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Explainable warning signs </a:t>
            </a:r>
          </a:p>
          <a:p>
            <a:pPr algn="l">
              <a:lnSpc>
                <a:spcPts val="5003"/>
              </a:lnSpc>
            </a:pPr>
            <a:endParaRPr lang="en-US" sz="2501" spc="-5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72768" y="361950"/>
            <a:ext cx="8714232" cy="2362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1"/>
              </a:lnSpc>
            </a:pPr>
            <a:r>
              <a:rPr lang="en-US" sz="9001" b="1" spc="-180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TECHNOLOGY </a:t>
            </a:r>
            <a:r>
              <a:rPr lang="en-US" sz="9001" b="1" spc="-180" dirty="0">
                <a:solidFill>
                  <a:srgbClr val="0079E7"/>
                </a:solidFill>
                <a:latin typeface="Roboto Bold"/>
                <a:ea typeface="Roboto Bold"/>
                <a:cs typeface="Roboto Bold"/>
                <a:sym typeface="Roboto Bold"/>
              </a:rPr>
              <a:t>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8E6740-BCBE-F188-C4A2-5B3039DD0438}"/>
              </a:ext>
            </a:extLst>
          </p:cNvPr>
          <p:cNvSpPr txBox="1"/>
          <p:nvPr/>
        </p:nvSpPr>
        <p:spPr>
          <a:xfrm>
            <a:off x="6107768" y="2684542"/>
            <a:ext cx="59436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🔐 Web Crypto API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SHA-256 hashing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Digital evidence integrity support </a:t>
            </a:r>
          </a:p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📁 Browser File APIs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US" sz="2800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FileReader</a:t>
            </a:r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Image / PDF handling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Digital evidence processing </a:t>
            </a:r>
          </a:p>
          <a:p>
            <a:r>
              <a:rPr lang="en-US" sz="2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💾 Local Storage</a:t>
            </a:r>
            <a:endParaRPr lang="en-US" sz="2800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User data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Cases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Evidence information </a:t>
            </a:r>
          </a:p>
          <a:p>
            <a:pPr lvl="0"/>
            <a:r>
              <a:rPr lang="en-US" sz="28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App preferences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52625" y="3000375"/>
            <a:ext cx="5238750" cy="5572125"/>
          </a:xfrm>
          <a:custGeom>
            <a:avLst/>
            <a:gdLst/>
            <a:ahLst/>
            <a:cxnLst/>
            <a:rect l="l" t="t" r="r" b="b"/>
            <a:pathLst>
              <a:path w="5238750" h="5572125">
                <a:moveTo>
                  <a:pt x="0" y="0"/>
                </a:moveTo>
                <a:lnTo>
                  <a:pt x="5238750" y="0"/>
                </a:lnTo>
                <a:lnTo>
                  <a:pt x="523875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743700" y="3000375"/>
            <a:ext cx="3714750" cy="857250"/>
          </a:xfrm>
          <a:custGeom>
            <a:avLst/>
            <a:gdLst/>
            <a:ahLst/>
            <a:cxnLst/>
            <a:rect l="l" t="t" r="r" b="b"/>
            <a:pathLst>
              <a:path w="3714750" h="857250">
                <a:moveTo>
                  <a:pt x="0" y="0"/>
                </a:moveTo>
                <a:lnTo>
                  <a:pt x="3714750" y="0"/>
                </a:lnTo>
                <a:lnTo>
                  <a:pt x="37147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181850" y="6638925"/>
            <a:ext cx="3276600" cy="219075"/>
          </a:xfrm>
          <a:custGeom>
            <a:avLst/>
            <a:gdLst/>
            <a:ahLst/>
            <a:cxnLst/>
            <a:rect l="l" t="t" r="r" b="b"/>
            <a:pathLst>
              <a:path w="3276600" h="219075">
                <a:moveTo>
                  <a:pt x="0" y="0"/>
                </a:moveTo>
                <a:lnTo>
                  <a:pt x="3276600" y="0"/>
                </a:lnTo>
                <a:lnTo>
                  <a:pt x="327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456432" y="4192333"/>
            <a:ext cx="2359152" cy="334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2"/>
              </a:lnSpc>
            </a:pPr>
            <a:r>
              <a:rPr lang="en-US" sz="3152" spc="-94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practical, privacy-first early-warning system </a:t>
            </a:r>
            <a:r>
              <a:rPr lang="en-US" sz="3152" spc="-94" dirty="0">
                <a:solidFill>
                  <a:srgbClr val="FF3131"/>
                </a:solidFill>
                <a:latin typeface="Roboto"/>
                <a:ea typeface="Roboto"/>
                <a:cs typeface="Roboto"/>
                <a:sym typeface="Roboto"/>
              </a:rPr>
              <a:t>built today, ready to scale tomorrow.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8208" y="525018"/>
            <a:ext cx="151790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223" b="1" spc="-96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IMPACT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08208" y="1195351"/>
            <a:ext cx="5266944" cy="4030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2400" b="1" dirty="0">
                <a:solidFill>
                  <a:schemeClr val="bg1"/>
                </a:solidFill>
              </a:rPr>
              <a:t>Early Detection:</a:t>
            </a:r>
            <a:r>
              <a:rPr lang="en-US" sz="2400" dirty="0">
                <a:solidFill>
                  <a:schemeClr val="bg1"/>
                </a:solidFill>
              </a:rPr>
              <a:t> Helps users identify scams before losses occur. 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Better Awareness:</a:t>
            </a:r>
            <a:r>
              <a:rPr lang="en-US" sz="2400" dirty="0">
                <a:solidFill>
                  <a:schemeClr val="bg1"/>
                </a:solidFill>
              </a:rPr>
              <a:t> Explains suspicious signs in simple language. 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Faster Response:</a:t>
            </a:r>
            <a:r>
              <a:rPr lang="en-US" sz="2400" dirty="0">
                <a:solidFill>
                  <a:schemeClr val="bg1"/>
                </a:solidFill>
              </a:rPr>
              <a:t> Guides victims on what to do after an incident. 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Evidence Preservation:</a:t>
            </a:r>
            <a:r>
              <a:rPr lang="en-US" sz="2400" dirty="0">
                <a:solidFill>
                  <a:schemeClr val="bg1"/>
                </a:solidFill>
              </a:rPr>
              <a:t> Helps organize digital proof for reporting. 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Wider Reach:</a:t>
            </a:r>
            <a:r>
              <a:rPr lang="en-US" sz="2400" dirty="0">
                <a:solidFill>
                  <a:schemeClr val="bg1"/>
                </a:solidFill>
              </a:rPr>
              <a:t> Useful for students, families, employees and everyday users. </a:t>
            </a:r>
          </a:p>
          <a:p>
            <a:pPr algn="l">
              <a:lnSpc>
                <a:spcPts val="2761"/>
              </a:lnSpc>
            </a:pPr>
            <a:endParaRPr lang="en-US" sz="2124" spc="-63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808208" y="5905119"/>
            <a:ext cx="2267712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7"/>
              </a:lnSpc>
            </a:pPr>
            <a:r>
              <a:rPr lang="en-US" sz="3223" b="1" spc="-96">
                <a:solidFill>
                  <a:srgbClr val="FF3131"/>
                </a:solidFill>
                <a:latin typeface="Roboto Bold"/>
                <a:ea typeface="Roboto Bold"/>
                <a:cs typeface="Roboto Bold"/>
                <a:sym typeface="Roboto Bold"/>
              </a:rPr>
              <a:t>FEASIBILITY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61363" y="529478"/>
            <a:ext cx="6839712" cy="2314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71"/>
              </a:lnSpc>
            </a:pPr>
            <a:r>
              <a:rPr lang="en-US" sz="9745" b="1" spc="-29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IMPACT &amp; </a:t>
            </a:r>
            <a:r>
              <a:rPr lang="en-US" sz="9745" b="1" spc="-292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FEASIBILITY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808208" y="6391404"/>
            <a:ext cx="5431536" cy="4030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US" sz="2400" b="1" dirty="0">
                <a:solidFill>
                  <a:schemeClr val="bg1"/>
                </a:solidFill>
              </a:rPr>
              <a:t>Technically feasible</a:t>
            </a:r>
            <a:r>
              <a:rPr lang="en-US" sz="2400" dirty="0">
                <a:solidFill>
                  <a:schemeClr val="bg1"/>
                </a:solidFill>
              </a:rPr>
              <a:t> : built using existing web and Android technologies.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Scalable architecture</a:t>
            </a:r>
            <a:r>
              <a:rPr lang="en-US" sz="2400" dirty="0">
                <a:solidFill>
                  <a:schemeClr val="bg1"/>
                </a:solidFill>
              </a:rPr>
              <a:t> : features can be upgraded independently.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Multi-input support</a:t>
            </a:r>
            <a:r>
              <a:rPr lang="en-US" sz="2400" dirty="0">
                <a:solidFill>
                  <a:schemeClr val="bg1"/>
                </a:solidFill>
              </a:rPr>
              <a:t> : analyzes messages, URLs, images, files and voice.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Low-cost deployment</a:t>
            </a:r>
            <a:r>
              <a:rPr lang="en-US" sz="2400" dirty="0">
                <a:solidFill>
                  <a:schemeClr val="bg1"/>
                </a:solidFill>
              </a:rPr>
              <a:t> : can run on existing smartphones.</a:t>
            </a:r>
          </a:p>
          <a:p>
            <a:pPr lvl="0"/>
            <a:r>
              <a:rPr lang="en-US" sz="2400" b="1" dirty="0">
                <a:solidFill>
                  <a:schemeClr val="bg1"/>
                </a:solidFill>
              </a:rPr>
              <a:t>Future-ready</a:t>
            </a:r>
            <a:r>
              <a:rPr lang="en-US" sz="2400" dirty="0">
                <a:solidFill>
                  <a:schemeClr val="bg1"/>
                </a:solidFill>
              </a:rPr>
              <a:t> : can integrate stronger AI, threat intelligence and reporting systems.</a:t>
            </a:r>
          </a:p>
          <a:p>
            <a:pPr algn="l">
              <a:lnSpc>
                <a:spcPts val="2761"/>
              </a:lnSpc>
            </a:pPr>
            <a:endParaRPr lang="en-US" sz="2124" spc="-63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23770" y="2223070"/>
            <a:ext cx="11934832" cy="7586929"/>
          </a:xfrm>
          <a:custGeom>
            <a:avLst/>
            <a:gdLst/>
            <a:ahLst/>
            <a:cxnLst/>
            <a:rect l="l" t="t" r="r" b="b"/>
            <a:pathLst>
              <a:path w="11934832" h="7586929">
                <a:moveTo>
                  <a:pt x="0" y="0"/>
                </a:moveTo>
                <a:lnTo>
                  <a:pt x="11934832" y="0"/>
                </a:lnTo>
                <a:lnTo>
                  <a:pt x="11934832" y="7586929"/>
                </a:lnTo>
                <a:lnTo>
                  <a:pt x="0" y="7586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471" b="-140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46504" y="546984"/>
            <a:ext cx="5416296" cy="1676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65"/>
              </a:lnSpc>
            </a:pPr>
            <a:r>
              <a:rPr lang="en-US" sz="6844" b="1" spc="-205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SCAMHUNT </a:t>
            </a:r>
            <a:r>
              <a:rPr lang="en-US" sz="6844" b="1" spc="-205" dirty="0">
                <a:solidFill>
                  <a:srgbClr val="1C79E7"/>
                </a:solidFill>
                <a:latin typeface="Roboto Bold"/>
                <a:ea typeface="Roboto Bold"/>
                <a:cs typeface="Roboto Bold"/>
                <a:sym typeface="Roboto Bold"/>
              </a:rPr>
              <a:t>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829550" y="1924050"/>
            <a:ext cx="10458450" cy="8362950"/>
          </a:xfrm>
          <a:custGeom>
            <a:avLst/>
            <a:gdLst/>
            <a:ahLst/>
            <a:cxnLst/>
            <a:rect l="l" t="t" r="r" b="b"/>
            <a:pathLst>
              <a:path w="10458450" h="8362950">
                <a:moveTo>
                  <a:pt x="0" y="0"/>
                </a:moveTo>
                <a:lnTo>
                  <a:pt x="10458450" y="0"/>
                </a:lnTo>
                <a:lnTo>
                  <a:pt x="10458450" y="8362950"/>
                </a:lnTo>
                <a:lnTo>
                  <a:pt x="0" y="8362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6291" y="3744659"/>
            <a:ext cx="15711555" cy="219075"/>
          </a:xfrm>
          <a:custGeom>
            <a:avLst/>
            <a:gdLst/>
            <a:ahLst/>
            <a:cxnLst/>
            <a:rect l="l" t="t" r="r" b="b"/>
            <a:pathLst>
              <a:path w="15711555" h="219075">
                <a:moveTo>
                  <a:pt x="0" y="0"/>
                </a:moveTo>
                <a:lnTo>
                  <a:pt x="15711555" y="0"/>
                </a:lnTo>
                <a:lnTo>
                  <a:pt x="1571155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6009" b="-5600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6291" y="4601909"/>
            <a:ext cx="15711555" cy="219075"/>
          </a:xfrm>
          <a:custGeom>
            <a:avLst/>
            <a:gdLst/>
            <a:ahLst/>
            <a:cxnLst/>
            <a:rect l="l" t="t" r="r" b="b"/>
            <a:pathLst>
              <a:path w="15711555" h="219075">
                <a:moveTo>
                  <a:pt x="0" y="0"/>
                </a:moveTo>
                <a:lnTo>
                  <a:pt x="15711555" y="0"/>
                </a:lnTo>
                <a:lnTo>
                  <a:pt x="1571155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6009" b="-5600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79101" y="4916992"/>
            <a:ext cx="6746679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549" b="1">
                <a:solidFill>
                  <a:srgbClr val="0071E8"/>
                </a:solidFill>
                <a:latin typeface="Roboto Bold"/>
                <a:ea typeface="Roboto Bold"/>
                <a:cs typeface="Roboto Bold"/>
                <a:sym typeface="Roboto Bold"/>
              </a:rPr>
              <a:t>Always on protection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79101" y="5296417"/>
            <a:ext cx="11205691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22"/>
              </a:lnSpc>
            </a:pPr>
            <a:r>
              <a:rPr lang="en-US" sz="223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Real-time safeguards powered by Android</a:t>
            </a:r>
          </a:p>
        </p:txBody>
      </p:sp>
      <p:sp>
        <p:nvSpPr>
          <p:cNvPr id="8" name="Freeform 8"/>
          <p:cNvSpPr/>
          <p:nvPr/>
        </p:nvSpPr>
        <p:spPr>
          <a:xfrm>
            <a:off x="846291" y="5678234"/>
            <a:ext cx="15711555" cy="219075"/>
          </a:xfrm>
          <a:custGeom>
            <a:avLst/>
            <a:gdLst/>
            <a:ahLst/>
            <a:cxnLst/>
            <a:rect l="l" t="t" r="r" b="b"/>
            <a:pathLst>
              <a:path w="15711555" h="219075">
                <a:moveTo>
                  <a:pt x="0" y="0"/>
                </a:moveTo>
                <a:lnTo>
                  <a:pt x="15711555" y="0"/>
                </a:lnTo>
                <a:lnTo>
                  <a:pt x="1571155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6009" b="-5600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46291" y="6745034"/>
            <a:ext cx="15711555" cy="219075"/>
          </a:xfrm>
          <a:custGeom>
            <a:avLst/>
            <a:gdLst/>
            <a:ahLst/>
            <a:cxnLst/>
            <a:rect l="l" t="t" r="r" b="b"/>
            <a:pathLst>
              <a:path w="15711555" h="219075">
                <a:moveTo>
                  <a:pt x="0" y="0"/>
                </a:moveTo>
                <a:lnTo>
                  <a:pt x="15711555" y="0"/>
                </a:lnTo>
                <a:lnTo>
                  <a:pt x="1571155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6009" b="-56009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6291" y="8249984"/>
            <a:ext cx="15711555" cy="219075"/>
          </a:xfrm>
          <a:custGeom>
            <a:avLst/>
            <a:gdLst/>
            <a:ahLst/>
            <a:cxnLst/>
            <a:rect l="l" t="t" r="r" b="b"/>
            <a:pathLst>
              <a:path w="15711555" h="219075">
                <a:moveTo>
                  <a:pt x="0" y="0"/>
                </a:moveTo>
                <a:lnTo>
                  <a:pt x="15711555" y="0"/>
                </a:lnTo>
                <a:lnTo>
                  <a:pt x="1571155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6009" b="-5600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19072" y="407785"/>
            <a:ext cx="7424928" cy="1069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73"/>
              </a:lnSpc>
            </a:pPr>
            <a:r>
              <a:rPr lang="en-US" sz="797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THE FUTURE OF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9072" y="1407102"/>
            <a:ext cx="8110728" cy="13603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632"/>
              </a:lnSpc>
            </a:pPr>
            <a:r>
              <a:rPr lang="en-US" sz="10632" b="1" dirty="0">
                <a:solidFill>
                  <a:srgbClr val="0071E8"/>
                </a:solidFill>
                <a:latin typeface="Roboto Bold"/>
                <a:ea typeface="Roboto Bold"/>
                <a:cs typeface="Roboto Bold"/>
                <a:sym typeface="Roboto Bold"/>
              </a:rPr>
              <a:t>SCAMHUNT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9101" y="2859592"/>
            <a:ext cx="5854877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549" b="1">
                <a:solidFill>
                  <a:srgbClr val="0071E8"/>
                </a:solidFill>
                <a:latin typeface="Roboto Bold"/>
                <a:ea typeface="Roboto Bold"/>
                <a:cs typeface="Roboto Bold"/>
                <a:sym typeface="Roboto Bold"/>
              </a:rPr>
              <a:t>Smarter detection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79101" y="3252404"/>
            <a:ext cx="12911748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3"/>
              </a:lnSpc>
            </a:pPr>
            <a:r>
              <a:rPr lang="en-US" sz="21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Advanced AI to catch complex,phishing and fraud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9101" y="3888292"/>
            <a:ext cx="6707905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549" b="1">
                <a:solidFill>
                  <a:srgbClr val="0071E8"/>
                </a:solidFill>
                <a:latin typeface="Roboto Bold"/>
                <a:ea typeface="Roboto Bold"/>
                <a:cs typeface="Roboto Bold"/>
                <a:sym typeface="Roboto Bold"/>
              </a:rPr>
              <a:t>Wider understanding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9101" y="5955979"/>
            <a:ext cx="4769204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549" b="1">
                <a:solidFill>
                  <a:srgbClr val="0071E8"/>
                </a:solidFill>
                <a:latin typeface="Roboto Bold"/>
                <a:ea typeface="Roboto Bold"/>
                <a:cs typeface="Roboto Bold"/>
                <a:sym typeface="Roboto Bold"/>
              </a:rPr>
              <a:t>Richer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79101" y="6353103"/>
            <a:ext cx="12989296" cy="365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4"/>
              </a:lnSpc>
            </a:pPr>
            <a:r>
              <a:rPr lang="en-US" sz="2124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Understand messages, links, screenshots, and files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9101" y="7066975"/>
            <a:ext cx="6087521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549" b="1">
                <a:solidFill>
                  <a:srgbClr val="0071E8"/>
                </a:solidFill>
                <a:latin typeface="Roboto Bold"/>
                <a:ea typeface="Roboto Bold"/>
                <a:cs typeface="Roboto Bold"/>
                <a:sym typeface="Roboto Bold"/>
              </a:rPr>
              <a:t>Stronger by design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9101" y="7446590"/>
            <a:ext cx="11399561" cy="39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22"/>
              </a:lnSpc>
            </a:pPr>
            <a:r>
              <a:rPr lang="en-US" sz="223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Continuously learning with cloud intelligence and privacy-first security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9101" y="8527729"/>
            <a:ext cx="4071272" cy="440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69"/>
              </a:lnSpc>
            </a:pPr>
            <a:r>
              <a:rPr lang="en-US" sz="2549" b="1">
                <a:solidFill>
                  <a:srgbClr val="0071E8"/>
                </a:solidFill>
                <a:latin typeface="Roboto Bold"/>
                <a:ea typeface="Roboto Bold"/>
                <a:cs typeface="Roboto Bold"/>
                <a:sym typeface="Roboto Bold"/>
              </a:rPr>
              <a:t>Built to grow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9101" y="8920541"/>
            <a:ext cx="11864849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3"/>
              </a:lnSpc>
            </a:pPr>
            <a:r>
              <a:rPr lang="en-US" sz="2159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Expanding beyond Android to more platforms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9101" y="4281104"/>
            <a:ext cx="10546533" cy="373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23"/>
              </a:lnSpc>
            </a:pPr>
            <a:r>
              <a:rPr lang="en-US" sz="215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Detect scams across multiple languages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1" r="-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657850" y="4286250"/>
            <a:ext cx="12630150" cy="6000750"/>
          </a:xfrm>
          <a:custGeom>
            <a:avLst/>
            <a:gdLst/>
            <a:ahLst/>
            <a:cxnLst/>
            <a:rect l="l" t="t" r="r" b="b"/>
            <a:pathLst>
              <a:path w="12630150" h="6000750">
                <a:moveTo>
                  <a:pt x="0" y="0"/>
                </a:moveTo>
                <a:lnTo>
                  <a:pt x="12630150" y="0"/>
                </a:lnTo>
                <a:lnTo>
                  <a:pt x="12630150" y="6000750"/>
                </a:lnTo>
                <a:lnTo>
                  <a:pt x="0" y="6000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11642" y="4286250"/>
            <a:ext cx="6543675" cy="219075"/>
          </a:xfrm>
          <a:custGeom>
            <a:avLst/>
            <a:gdLst/>
            <a:ahLst/>
            <a:cxnLst/>
            <a:rect l="l" t="t" r="r" b="b"/>
            <a:pathLst>
              <a:path w="6543675" h="219075">
                <a:moveTo>
                  <a:pt x="0" y="0"/>
                </a:moveTo>
                <a:lnTo>
                  <a:pt x="6543676" y="0"/>
                </a:lnTo>
                <a:lnTo>
                  <a:pt x="6543676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657850" y="412090"/>
            <a:ext cx="7424928" cy="141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25"/>
              </a:lnSpc>
            </a:pPr>
            <a:r>
              <a:rPr lang="en-US" sz="1052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9072" y="2443520"/>
            <a:ext cx="7424928" cy="1421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96"/>
              </a:lnSpc>
            </a:pPr>
            <a:r>
              <a:rPr lang="en-US" sz="10596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SCAMHUNT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56232" y="3777697"/>
            <a:ext cx="6272784" cy="50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6"/>
              </a:lnSpc>
            </a:pPr>
            <a:r>
              <a:rPr lang="en-US" sz="3896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Don’t Trust It. </a:t>
            </a:r>
            <a:r>
              <a:rPr lang="en-US" sz="3896" b="1">
                <a:solidFill>
                  <a:srgbClr val="E92F2E"/>
                </a:solidFill>
                <a:latin typeface="Roboto Bold"/>
                <a:ea typeface="Roboto Bold"/>
                <a:cs typeface="Roboto Bold"/>
                <a:sym typeface="Roboto Bold"/>
              </a:rPr>
              <a:t>Investigate 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19656" y="5179247"/>
            <a:ext cx="7004304" cy="635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83"/>
              </a:lnSpc>
            </a:pPr>
            <a:r>
              <a:rPr lang="en-US" sz="47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 DON’T JUST DETECT.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19656" y="5930443"/>
            <a:ext cx="6327648" cy="8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3"/>
              </a:lnSpc>
            </a:pPr>
            <a:r>
              <a:rPr lang="en-US" sz="6023" b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WE INVESTIGATE.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9536" y="7595568"/>
            <a:ext cx="1920240" cy="33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8"/>
              </a:lnSpc>
            </a:pPr>
            <a:r>
              <a:rPr lang="en-US" sz="247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Presented by: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9536" y="8068739"/>
            <a:ext cx="2962656" cy="613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4641" b="1" dirty="0" err="1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CyberNova</a:t>
            </a:r>
            <a:endParaRPr lang="en-US" sz="4641" b="1" dirty="0">
              <a:solidFill>
                <a:srgbClr val="007A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59536" y="8817774"/>
            <a:ext cx="2194560" cy="83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Divya Khare</a:t>
            </a:r>
          </a:p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Aman Meshram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258693" y="8812630"/>
            <a:ext cx="2194560" cy="834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Radhika Parmar </a:t>
            </a:r>
          </a:p>
          <a:p>
            <a:pPr algn="l">
              <a:lnSpc>
                <a:spcPts val="3371"/>
              </a:lnSpc>
            </a:pPr>
            <a:r>
              <a:rPr lang="en-US" sz="240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Aman Semil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17319" y="7273192"/>
            <a:ext cx="3578764" cy="478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7"/>
              </a:lnSpc>
              <a:spcBef>
                <a:spcPct val="0"/>
              </a:spcBef>
            </a:pPr>
            <a:r>
              <a:rPr lang="en-US" sz="2852" u="sng" spc="-85">
                <a:solidFill>
                  <a:srgbClr val="FF3131"/>
                </a:solidFill>
                <a:latin typeface="Roboto"/>
                <a:ea typeface="Roboto"/>
                <a:cs typeface="Roboto"/>
                <a:sym typeface="Roboto"/>
                <a:hlinkClick r:id="rId5" tooltip="https://drive.google.com/file/d/1NipqLwKV7gS8-fY8UOMmvw3x-xOAbmM9/view?usp=drivesdk"/>
              </a:rPr>
              <a:t>Click here to view video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696</Words>
  <Application>Microsoft Office PowerPoint</Application>
  <PresentationFormat>Custom</PresentationFormat>
  <Paragraphs>169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HK Modular</vt:lpstr>
      <vt:lpstr>Arial</vt:lpstr>
      <vt:lpstr>Roboto</vt:lpstr>
      <vt:lpstr>Calibri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Isn’t Always Obvious.</dc:title>
  <cp:lastModifiedBy>Aman Meshram</cp:lastModifiedBy>
  <cp:revision>3</cp:revision>
  <dcterms:created xsi:type="dcterms:W3CDTF">2006-08-16T00:00:00Z</dcterms:created>
  <dcterms:modified xsi:type="dcterms:W3CDTF">2026-09-06T04:20:11Z</dcterms:modified>
  <dc:identifier>DAHTIpr6qOw</dc:identifier>
</cp:coreProperties>
</file>